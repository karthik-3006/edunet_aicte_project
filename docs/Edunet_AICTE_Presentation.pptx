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72" r:id="rId6"/>
    <p:sldId id="260" r:id="rId7"/>
    <p:sldId id="261" r:id="rId8"/>
    <p:sldId id="275" r:id="rId9"/>
    <p:sldId id="264" r:id="rId10"/>
    <p:sldId id="274" r:id="rId11"/>
    <p:sldId id="266" r:id="rId12"/>
    <p:sldId id="273" r:id="rId13"/>
    <p:sldId id="268" r:id="rId14"/>
    <p:sldId id="267" r:id="rId15"/>
    <p:sldId id="269"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871550968"/>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Mannem Karthik</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Mannemkarthik30@gmail.com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9440477558</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Education</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8" y="588572"/>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dirty="0">
                <a:highlight>
                  <a:srgbClr val="FFFF00"/>
                </a:highlight>
              </a:rPr>
              <a:t>Interview Trainer Agent</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993816ED-BF65-240D-57B6-7D43331453D6}"/>
              </a:ext>
            </a:extLst>
          </p:cNvPr>
          <p:cNvPicPr>
            <a:picLocks noChangeAspect="1"/>
          </p:cNvPicPr>
          <p:nvPr/>
        </p:nvPicPr>
        <p:blipFill>
          <a:blip r:embed="rId3"/>
          <a:stretch>
            <a:fillRect/>
          </a:stretch>
        </p:blipFill>
        <p:spPr>
          <a:xfrm>
            <a:off x="4026030" y="3655122"/>
            <a:ext cx="826692" cy="969478"/>
          </a:xfrm>
          <a:prstGeom prst="rect">
            <a:avLst/>
          </a:prstGeom>
        </p:spPr>
      </p:pic>
      <p:sp>
        <p:nvSpPr>
          <p:cNvPr id="2" name="TextBox 1">
            <a:extLst>
              <a:ext uri="{FF2B5EF4-FFF2-40B4-BE49-F238E27FC236}">
                <a16:creationId xmlns:a16="http://schemas.microsoft.com/office/drawing/2014/main" id="{0B478D64-EA74-8AC2-05BC-A418A991DE65}"/>
              </a:ext>
            </a:extLst>
          </p:cNvPr>
          <p:cNvSpPr txBox="1"/>
          <p:nvPr/>
        </p:nvSpPr>
        <p:spPr>
          <a:xfrm>
            <a:off x="1299257" y="5360582"/>
            <a:ext cx="5928527" cy="461665"/>
          </a:xfrm>
          <a:prstGeom prst="rect">
            <a:avLst/>
          </a:prstGeom>
          <a:noFill/>
        </p:spPr>
        <p:txBody>
          <a:bodyPr wrap="square" rtlCol="0">
            <a:spAutoFit/>
          </a:bodyPr>
          <a:lstStyle/>
          <a:p>
            <a:r>
              <a:rPr lang="en-IN" sz="2400" b="1" dirty="0"/>
              <a:t>Collage Name </a:t>
            </a:r>
            <a:r>
              <a:rPr lang="en-US" sz="2400" b="1" dirty="0"/>
              <a:t>– Mohan Babu University</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1471902" cy="47397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Problem Statement : </a:t>
            </a:r>
            <a:r>
              <a:rPr lang="en-IN" sz="1800" b="1" i="0" u="none" strike="noStrike" cap="none" dirty="0">
                <a:solidFill>
                  <a:srgbClr val="000000"/>
                </a:solidFill>
                <a:latin typeface="Arial"/>
                <a:ea typeface="Arial"/>
                <a:cs typeface="Arial"/>
                <a:sym typeface="Arial"/>
              </a:rPr>
              <a:t>Interview Trainer Agent</a:t>
            </a:r>
            <a:endParaRPr sz="1800"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The Challenge</a:t>
            </a:r>
            <a:r>
              <a:rPr lang="en-US" sz="1800" b="1" dirty="0"/>
              <a:t>:</a:t>
            </a:r>
          </a:p>
          <a:p>
            <a:pPr marL="0" marR="0" lvl="0" indent="0" algn="l" rtl="0">
              <a:lnSpc>
                <a:spcPct val="100000"/>
              </a:lnSpc>
              <a:spcBef>
                <a:spcPts val="0"/>
              </a:spcBef>
              <a:spcAft>
                <a:spcPts val="0"/>
              </a:spcAft>
              <a:buNone/>
            </a:pPr>
            <a:endParaRPr dirty="0"/>
          </a:p>
          <a:p>
            <a:pPr lvl="0"/>
            <a:r>
              <a:rPr lang="en-US" sz="1600" dirty="0"/>
              <a:t>An Interview Trainer Agent, powered by RAG (Retrieval-Augmented Generation), prepares users for job interviews by generating tailored question sets and preparation strategies based on their profile name, experience level, and job role. It retrieves role-specific interview questions, industry expectations, behavioral scenarios, and HR guidelines from recruitment portals, professional networks, and company interview databases. Users can input their resume or job title, and the agent provides targeted questions, model answers, and improvement tips.</a:t>
            </a:r>
          </a:p>
          <a:p>
            <a:pPr lvl="0"/>
            <a:r>
              <a:rPr lang="en-US" sz="1600" dirty="0"/>
              <a:t>It supports both technical and soft skill assessment, ensuring a comprehensive interview prep experience. This AI-driven assistant builds user confidence, sharpens responses, and increases success rates in</a:t>
            </a:r>
          </a:p>
          <a:p>
            <a:pPr lvl="0"/>
            <a:r>
              <a:rPr lang="en-US" sz="1600" dirty="0"/>
              <a:t>competitive hiring environments.</a:t>
            </a:r>
          </a:p>
          <a:p>
            <a:pPr lvl="0"/>
            <a:endParaRPr lang="en-US" sz="1400" b="0" i="0" u="none" strike="noStrike" cap="none" dirty="0">
              <a:solidFill>
                <a:srgbClr val="000000"/>
              </a:solidFill>
              <a:latin typeface="Arial"/>
              <a:ea typeface="Arial"/>
              <a:cs typeface="Arial"/>
              <a:sym typeface="Arial"/>
            </a:endParaRPr>
          </a:p>
          <a:p>
            <a:pPr lvl="0"/>
            <a:r>
              <a:rPr lang="en-US" sz="1800" b="1" dirty="0"/>
              <a:t>Objective:</a:t>
            </a:r>
          </a:p>
          <a:p>
            <a:pPr lvl="0"/>
            <a:endParaRPr lang="en-US" b="1" dirty="0"/>
          </a:p>
          <a:p>
            <a:pPr lvl="0"/>
            <a:r>
              <a:rPr lang="en-IN" sz="1600" dirty="0"/>
              <a:t>To develop an AI-powered </a:t>
            </a:r>
            <a:r>
              <a:rPr lang="en-IN" sz="1600" b="1" dirty="0"/>
              <a:t>Interview Trainer Agent</a:t>
            </a:r>
            <a:r>
              <a:rPr lang="en-IN" sz="1600" dirty="0"/>
              <a:t> using </a:t>
            </a:r>
            <a:r>
              <a:rPr lang="en-IN" sz="1600" b="1" dirty="0"/>
              <a:t>IBM Granite</a:t>
            </a:r>
            <a:r>
              <a:rPr lang="en-IN" sz="1600" dirty="0"/>
              <a:t> and </a:t>
            </a:r>
            <a:r>
              <a:rPr lang="en-IN" sz="1600" b="1" dirty="0"/>
              <a:t>Retrieval-Augmented Generation (RAG)</a:t>
            </a:r>
            <a:r>
              <a:rPr lang="en-IN" sz="1600" dirty="0"/>
              <a:t> on </a:t>
            </a:r>
            <a:r>
              <a:rPr lang="en-IN" sz="1600" b="1" dirty="0"/>
              <a:t>IBM Cloud Lite</a:t>
            </a:r>
            <a:r>
              <a:rPr lang="en-IN" sz="1600" dirty="0"/>
              <a:t> that delivers personalized interview preparation by generating role-specific interview questions, model answers, </a:t>
            </a:r>
            <a:r>
              <a:rPr lang="en-IN" sz="1600" dirty="0" err="1"/>
              <a:t>behavioral</a:t>
            </a:r>
            <a:r>
              <a:rPr lang="en-IN" sz="1600" dirty="0"/>
              <a:t> scenarios, HR guidance, and improvement suggestions based on a user's resume, job title, and experience level.</a:t>
            </a:r>
            <a:endParaRPr sz="1600" b="1"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576071" y="751364"/>
            <a:ext cx="11471902" cy="5509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lang="en-IN" sz="1400" b="0" i="0" u="none" strike="noStrike" cap="none" dirty="0">
              <a:solidFill>
                <a:srgbClr val="000000"/>
              </a:solidFill>
              <a:latin typeface="Arial"/>
              <a:ea typeface="Arial"/>
              <a:cs typeface="Arial"/>
              <a:sym typeface="Arial"/>
            </a:endParaRPr>
          </a:p>
          <a:p>
            <a:pPr lvl="0"/>
            <a:r>
              <a:rPr lang="en-IN" sz="1800" b="1" dirty="0"/>
              <a:t>Overview:</a:t>
            </a:r>
          </a:p>
          <a:p>
            <a:pPr lvl="0"/>
            <a:endParaRPr lang="en-IN" sz="1800" dirty="0"/>
          </a:p>
          <a:p>
            <a:r>
              <a:rPr lang="en-IN" sz="1600" dirty="0"/>
              <a:t>Our solution is an </a:t>
            </a:r>
            <a:r>
              <a:rPr lang="en-IN" sz="1600" b="1" dirty="0">
                <a:highlight>
                  <a:srgbClr val="FFFF00"/>
                </a:highlight>
              </a:rPr>
              <a:t>AI-powered Interview Trainer Agent</a:t>
            </a:r>
            <a:r>
              <a:rPr lang="en-IN" sz="1600" dirty="0"/>
              <a:t> developed using IBM Build on</a:t>
            </a:r>
            <a:r>
              <a:rPr lang="en-IN" sz="1600" b="1" dirty="0"/>
              <a:t> </a:t>
            </a:r>
            <a:r>
              <a:rPr lang="en-IN" sz="1600" b="1" dirty="0">
                <a:highlight>
                  <a:srgbClr val="FFFF00"/>
                </a:highlight>
              </a:rPr>
              <a:t>IBM (BOB)</a:t>
            </a:r>
            <a:r>
              <a:rPr lang="en-IN" sz="1600" dirty="0"/>
              <a:t> and </a:t>
            </a:r>
            <a:r>
              <a:rPr lang="en-IN" sz="1600" b="1" dirty="0">
                <a:highlight>
                  <a:srgbClr val="FFFF00"/>
                </a:highlight>
              </a:rPr>
              <a:t>IBM Granite Foundation Models</a:t>
            </a:r>
            <a:r>
              <a:rPr lang="en-IN" sz="1600" dirty="0"/>
              <a:t> on </a:t>
            </a:r>
            <a:r>
              <a:rPr lang="en-IN" sz="1600" b="1" dirty="0">
                <a:highlight>
                  <a:srgbClr val="FFFF00"/>
                </a:highlight>
              </a:rPr>
              <a:t>IBM Cloud Lite</a:t>
            </a:r>
            <a:r>
              <a:rPr lang="en-IN" sz="1600" dirty="0"/>
              <a:t>. The platform provides an intelligent and personalized interview preparation experience by adapting interview questions according to the candidate's </a:t>
            </a:r>
            <a:r>
              <a:rPr lang="en-IN" sz="1600" b="1" dirty="0">
                <a:highlight>
                  <a:srgbClr val="FFFF00"/>
                </a:highlight>
              </a:rPr>
              <a:t>job role, experience level, and interview type</a:t>
            </a:r>
            <a:r>
              <a:rPr lang="en-IN" sz="1600" dirty="0"/>
              <a:t>.</a:t>
            </a:r>
          </a:p>
          <a:p>
            <a:endParaRPr lang="en-IN" sz="1600" dirty="0"/>
          </a:p>
          <a:p>
            <a:r>
              <a:rPr lang="en-IN" sz="1600" dirty="0"/>
              <a:t>The application begins by collecting the candidate's profile information and generating a customized interview session. Throughout the interview, IBM Granite evaluates each response in real time by analyzing technical accuracy, relevance, clarity, and completeness. Along with detailed feedback, the system also generates an </a:t>
            </a:r>
            <a:r>
              <a:rPr lang="en-IN" sz="1600" b="1" dirty="0">
                <a:highlight>
                  <a:srgbClr val="FFFF00"/>
                </a:highlight>
              </a:rPr>
              <a:t>ideal answer</a:t>
            </a:r>
            <a:r>
              <a:rPr lang="en-IN" sz="1600" dirty="0"/>
              <a:t> for every question, enabling users to compare their responses with industry-standard expectations and identify areas for improvement.</a:t>
            </a:r>
          </a:p>
          <a:p>
            <a:endParaRPr lang="en-IN" sz="1600" dirty="0"/>
          </a:p>
          <a:p>
            <a:r>
              <a:rPr lang="en-IN" sz="1600" dirty="0"/>
              <a:t>After completing the interview, the platform automatically calculates performance scores and presents a comprehensive interview summary, highlighting strengths, weaknesses, and overall readiness. This continuous feedback mechanism helps candidates improve both technical knowledge and communication skills through repeated practice.</a:t>
            </a:r>
          </a:p>
          <a:p>
            <a:endParaRPr lang="en-IN" sz="1800" dirty="0"/>
          </a:p>
          <a:p>
            <a:r>
              <a:rPr lang="en-IN" sz="1600" dirty="0">
                <a:highlight>
                  <a:srgbClr val="FFFF00"/>
                </a:highlight>
              </a:rPr>
              <a:t>Built using </a:t>
            </a:r>
            <a:r>
              <a:rPr lang="en-IN" sz="1600" b="1" dirty="0">
                <a:highlight>
                  <a:srgbClr val="FFFF00"/>
                </a:highlight>
              </a:rPr>
              <a:t>Flask</a:t>
            </a:r>
            <a:r>
              <a:rPr lang="en-IN" sz="1600" dirty="0">
                <a:highlight>
                  <a:srgbClr val="FFFF00"/>
                </a:highlight>
              </a:rPr>
              <a:t>, </a:t>
            </a:r>
            <a:r>
              <a:rPr lang="en-IN" sz="1600" b="1" dirty="0">
                <a:highlight>
                  <a:srgbClr val="FFFF00"/>
                </a:highlight>
              </a:rPr>
              <a:t>IBM Granite APIs</a:t>
            </a:r>
            <a:r>
              <a:rPr lang="en-IN" sz="1600" dirty="0">
                <a:highlight>
                  <a:srgbClr val="FFFF00"/>
                </a:highlight>
              </a:rPr>
              <a:t>, and </a:t>
            </a:r>
            <a:r>
              <a:rPr lang="en-IN" sz="1600" b="1" dirty="0">
                <a:highlight>
                  <a:srgbClr val="FFFF00"/>
                </a:highlight>
              </a:rPr>
              <a:t>IBM Build on IBM</a:t>
            </a:r>
            <a:r>
              <a:rPr lang="en-IN" sz="1600" dirty="0"/>
              <a:t>, the solution delivers a scalable, AI-driven interview coaching platform that simulates realistic interview scenarios, provides instant evaluation, and enables candidates to prepare confidently for technical, HR, and mixed interview rounds while significantly improving their chances of success in competitive hiring processes.</a:t>
            </a:r>
          </a:p>
          <a:p>
            <a:pPr lvl="0"/>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1" y="335886"/>
            <a:ext cx="10718275"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Proposed Solution -</a:t>
            </a:r>
            <a:r>
              <a:rPr lang="en-US" sz="2400" b="1" dirty="0"/>
              <a:t> Proposed Solution: </a:t>
            </a:r>
            <a:r>
              <a:rPr lang="en-IN" sz="2400" b="1" dirty="0"/>
              <a:t>AI-Powered Interview Trainer</a:t>
            </a:r>
          </a:p>
          <a:p>
            <a:pPr marL="0" marR="0" lvl="0" indent="0" algn="l" rtl="0">
              <a:lnSpc>
                <a:spcPct val="100000"/>
              </a:lnSpc>
              <a:spcBef>
                <a:spcPts val="0"/>
              </a:spcBef>
              <a:spcAft>
                <a:spcPts val="0"/>
              </a:spcAft>
              <a:buNone/>
            </a:pP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B2507D-B882-F0ED-67A8-D1731EDAFB47}"/>
              </a:ext>
            </a:extLst>
          </p:cNvPr>
          <p:cNvPicPr>
            <a:picLocks noChangeAspect="1"/>
          </p:cNvPicPr>
          <p:nvPr/>
        </p:nvPicPr>
        <p:blipFill>
          <a:blip r:embed="rId2"/>
          <a:stretch>
            <a:fillRect/>
          </a:stretch>
        </p:blipFill>
        <p:spPr>
          <a:xfrm>
            <a:off x="265121" y="1691683"/>
            <a:ext cx="5954809" cy="3895200"/>
          </a:xfrm>
          <a:prstGeom prst="rect">
            <a:avLst/>
          </a:prstGeom>
        </p:spPr>
      </p:pic>
      <p:sp>
        <p:nvSpPr>
          <p:cNvPr id="6" name="TextBox 5">
            <a:extLst>
              <a:ext uri="{FF2B5EF4-FFF2-40B4-BE49-F238E27FC236}">
                <a16:creationId xmlns:a16="http://schemas.microsoft.com/office/drawing/2014/main" id="{EFB42710-14C4-1803-C99B-191EA9F1066F}"/>
              </a:ext>
            </a:extLst>
          </p:cNvPr>
          <p:cNvSpPr txBox="1"/>
          <p:nvPr/>
        </p:nvSpPr>
        <p:spPr>
          <a:xfrm>
            <a:off x="529469" y="570357"/>
            <a:ext cx="5426112" cy="461665"/>
          </a:xfrm>
          <a:prstGeom prst="rect">
            <a:avLst/>
          </a:prstGeom>
          <a:noFill/>
        </p:spPr>
        <p:txBody>
          <a:bodyPr wrap="square" rtlCol="0">
            <a:spAutoFit/>
          </a:bodyPr>
          <a:lstStyle/>
          <a:p>
            <a:r>
              <a:rPr lang="en-IN" sz="2400" b="1" dirty="0"/>
              <a:t>Interview Trainer Agent Dashboard</a:t>
            </a:r>
          </a:p>
        </p:txBody>
      </p:sp>
      <p:pic>
        <p:nvPicPr>
          <p:cNvPr id="8" name="Picture 7">
            <a:extLst>
              <a:ext uri="{FF2B5EF4-FFF2-40B4-BE49-F238E27FC236}">
                <a16:creationId xmlns:a16="http://schemas.microsoft.com/office/drawing/2014/main" id="{35511A2F-ED2C-2CE0-571A-6106135256A9}"/>
              </a:ext>
            </a:extLst>
          </p:cNvPr>
          <p:cNvPicPr>
            <a:picLocks noChangeAspect="1"/>
          </p:cNvPicPr>
          <p:nvPr/>
        </p:nvPicPr>
        <p:blipFill>
          <a:blip r:embed="rId3"/>
          <a:stretch>
            <a:fillRect/>
          </a:stretch>
        </p:blipFill>
        <p:spPr>
          <a:xfrm>
            <a:off x="6571621" y="1691682"/>
            <a:ext cx="5355258" cy="3895199"/>
          </a:xfrm>
          <a:prstGeom prst="rect">
            <a:avLst/>
          </a:prstGeom>
        </p:spPr>
      </p:pic>
      <p:sp>
        <p:nvSpPr>
          <p:cNvPr id="9" name="TextBox 8">
            <a:extLst>
              <a:ext uri="{FF2B5EF4-FFF2-40B4-BE49-F238E27FC236}">
                <a16:creationId xmlns:a16="http://schemas.microsoft.com/office/drawing/2014/main" id="{21131A42-4AA5-1F4C-A4C3-D7D4C7C0A81A}"/>
              </a:ext>
            </a:extLst>
          </p:cNvPr>
          <p:cNvSpPr txBox="1"/>
          <p:nvPr/>
        </p:nvSpPr>
        <p:spPr>
          <a:xfrm>
            <a:off x="8802356" y="570357"/>
            <a:ext cx="1431802" cy="461665"/>
          </a:xfrm>
          <a:prstGeom prst="rect">
            <a:avLst/>
          </a:prstGeom>
          <a:noFill/>
        </p:spPr>
        <p:txBody>
          <a:bodyPr wrap="none" rtlCol="0">
            <a:spAutoFit/>
          </a:bodyPr>
          <a:lstStyle/>
          <a:p>
            <a:r>
              <a:rPr lang="en-IN" sz="2400" b="1" dirty="0"/>
              <a:t>IBM Bob</a:t>
            </a:r>
          </a:p>
        </p:txBody>
      </p:sp>
    </p:spTree>
    <p:extLst>
      <p:ext uri="{BB962C8B-B14F-4D97-AF65-F5344CB8AC3E}">
        <p14:creationId xmlns:p14="http://schemas.microsoft.com/office/powerpoint/2010/main" val="103380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777239" y="1207008"/>
            <a:ext cx="11130057" cy="6340157"/>
          </a:xfrm>
          <a:prstGeom prst="rect">
            <a:avLst/>
          </a:prstGeom>
          <a:noFill/>
          <a:ln>
            <a:noFill/>
          </a:ln>
        </p:spPr>
        <p:txBody>
          <a:bodyPr spcFirstLastPara="1" wrap="square" lIns="91425" tIns="45700" rIns="91425" bIns="45700" anchor="t" anchorCtr="0">
            <a:spAutoFit/>
          </a:bodyPr>
          <a:lstStyle/>
          <a:p>
            <a:pPr marL="285750" lvl="0" indent="-171450">
              <a:buSzPts val="1800"/>
            </a:pPr>
            <a:r>
              <a:rPr lang="en-IN" sz="1800" b="1" dirty="0"/>
              <a:t>IBM Build on IBM (BOB)</a:t>
            </a:r>
            <a:r>
              <a:rPr lang="en-IN" sz="1800" dirty="0"/>
              <a:t> – </a:t>
            </a:r>
            <a:r>
              <a:rPr lang="en-IN" sz="1600" dirty="0"/>
              <a:t>Used to design, develop, and orchestrate the AI-powered Interview Trainer Agent with an intuitive workflow and seamless integration of IBM AI services.</a:t>
            </a:r>
          </a:p>
          <a:p>
            <a:pPr marL="285750" lvl="0" indent="-171450">
              <a:buSzPts val="1800"/>
            </a:pPr>
            <a:endParaRPr lang="en-IN" sz="1800" dirty="0"/>
          </a:p>
          <a:p>
            <a:pPr marL="285750" lvl="0" indent="-171450">
              <a:buSzPts val="1800"/>
            </a:pPr>
            <a:r>
              <a:rPr lang="en-IN" sz="1800" b="1" dirty="0"/>
              <a:t>IBM Granite Model (Granite 13B Chat V2)</a:t>
            </a:r>
            <a:r>
              <a:rPr lang="en-IN" sz="1800" dirty="0"/>
              <a:t> – </a:t>
            </a:r>
            <a:r>
              <a:rPr lang="en-IN" sz="1600" dirty="0"/>
              <a:t>Powers intelligent interview question generation, answer evaluation, personalized feedback, and interview performance analysis using advanced natural language understanding and reasoning.</a:t>
            </a:r>
          </a:p>
          <a:p>
            <a:pPr marL="285750" lvl="0" indent="-171450">
              <a:buSzPts val="1800"/>
            </a:pPr>
            <a:endParaRPr lang="en-IN" sz="1800" dirty="0"/>
          </a:p>
          <a:p>
            <a:pPr marL="285750" lvl="0" indent="-171450">
              <a:buSzPts val="1800"/>
            </a:pPr>
            <a:r>
              <a:rPr lang="en-IN" sz="1800" b="1" dirty="0"/>
              <a:t>IBM Cloud Lite</a:t>
            </a:r>
            <a:r>
              <a:rPr lang="en-IN" sz="1800" dirty="0"/>
              <a:t> – </a:t>
            </a:r>
            <a:r>
              <a:rPr lang="en-IN" sz="1600" dirty="0"/>
              <a:t>Provides a secure, reliable, and scalable cloud environment for hosting and deploying the Interview Trainer Agent while enabling easy access to IBM AI services.</a:t>
            </a:r>
          </a:p>
          <a:p>
            <a:pPr marL="285750" lvl="0" indent="-171450">
              <a:buSzPts val="1800"/>
            </a:pPr>
            <a:endParaRPr lang="en-IN" sz="1800" dirty="0"/>
          </a:p>
          <a:p>
            <a:pPr marL="285750" lvl="0" indent="-171450">
              <a:buSzPts val="1800"/>
            </a:pPr>
            <a:r>
              <a:rPr lang="en-IN" sz="1800" b="1" dirty="0"/>
              <a:t>Generative AI</a:t>
            </a:r>
            <a:r>
              <a:rPr lang="en-IN" sz="1800" dirty="0"/>
              <a:t> – </a:t>
            </a:r>
            <a:r>
              <a:rPr lang="en-IN" sz="1600" dirty="0"/>
              <a:t>Generates role-specific technical, HR, and </a:t>
            </a:r>
            <a:r>
              <a:rPr lang="en-IN" sz="1600" dirty="0" err="1"/>
              <a:t>behavioral</a:t>
            </a:r>
            <a:r>
              <a:rPr lang="en-IN" sz="1600" dirty="0"/>
              <a:t> interview questions, model answers, and personalized improvement suggestions based on the candidate's profile.</a:t>
            </a:r>
          </a:p>
          <a:p>
            <a:pPr marL="285750" lvl="0" indent="-171450">
              <a:buSzPts val="1800"/>
            </a:pPr>
            <a:endParaRPr lang="en-IN" sz="1800" dirty="0"/>
          </a:p>
          <a:p>
            <a:pPr marL="285750" lvl="0" indent="-171450">
              <a:buSzPts val="1800"/>
            </a:pPr>
            <a:r>
              <a:rPr lang="en-IN" sz="1800" b="1" dirty="0"/>
              <a:t>Flask (Python)</a:t>
            </a:r>
            <a:r>
              <a:rPr lang="en-IN" sz="1800" dirty="0"/>
              <a:t> – </a:t>
            </a:r>
            <a:r>
              <a:rPr lang="en-IN" sz="1600" dirty="0"/>
              <a:t>Serves as the backend framework for handling user requests, managing interview sessions, processing responses, and integrating with IBM Granite APIs.</a:t>
            </a:r>
          </a:p>
          <a:p>
            <a:pPr marL="285750" lvl="0" indent="-171450">
              <a:buSzPts val="1800"/>
            </a:pPr>
            <a:endParaRPr lang="en-IN" sz="1800" dirty="0"/>
          </a:p>
          <a:p>
            <a:pPr marL="285750" lvl="0" indent="-171450">
              <a:buSzPts val="1800"/>
            </a:pPr>
            <a:r>
              <a:rPr lang="en-IN" sz="1800" b="1" dirty="0"/>
              <a:t>HTML, CSS &amp; JavaScript</a:t>
            </a:r>
            <a:r>
              <a:rPr lang="en-IN" sz="1800" dirty="0"/>
              <a:t> – </a:t>
            </a:r>
            <a:r>
              <a:rPr lang="en-IN" sz="1600" dirty="0"/>
              <a:t>Used to build a responsive and user-friendly web interface that allows candidates to interact with the Interview Trainer Agent seamlessly.</a:t>
            </a:r>
          </a:p>
          <a:p>
            <a:pPr marL="285750" lvl="0" indent="-171450">
              <a:buSzPts val="1800"/>
            </a:pPr>
            <a:endParaRPr lang="en-IN" sz="1800" b="0" i="0" u="none" strike="noStrike" cap="none" dirty="0">
              <a:solidFill>
                <a:srgbClr val="000000"/>
              </a:solidFill>
              <a:latin typeface="Arial"/>
              <a:ea typeface="Arial"/>
              <a:cs typeface="Arial"/>
              <a:sym typeface="Arial"/>
            </a:endParaRPr>
          </a:p>
          <a:p>
            <a:pPr marL="285750" lvl="0" indent="-171450">
              <a:buSzPts val="1800"/>
            </a:pPr>
            <a:r>
              <a:rPr lang="en-IN" sz="1800" b="1" dirty="0"/>
              <a:t>Hosting Runtime </a:t>
            </a:r>
            <a:r>
              <a:rPr lang="en-IN" sz="1800" dirty="0"/>
              <a:t>– </a:t>
            </a:r>
            <a:r>
              <a:rPr lang="en-IN" sz="1600" dirty="0"/>
              <a:t>Render Platform Deployment</a:t>
            </a:r>
            <a:endParaRPr sz="160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380238" y="574448"/>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1439715"/>
            <a:ext cx="11717178" cy="63401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r>
              <a:rPr lang="en-IN" sz="1800" b="1" dirty="0"/>
              <a:t>1) Chat Input</a:t>
            </a:r>
            <a:r>
              <a:rPr lang="en-IN" sz="1800" dirty="0"/>
              <a:t> </a:t>
            </a:r>
            <a:r>
              <a:rPr lang="en-IN" dirty="0"/>
              <a:t>– </a:t>
            </a:r>
            <a:r>
              <a:rPr lang="en-IN" sz="1600" dirty="0"/>
              <a:t>Allows users to enter their </a:t>
            </a:r>
            <a:r>
              <a:rPr lang="en-IN" sz="1600" b="1" dirty="0">
                <a:highlight>
                  <a:srgbClr val="FFFF00"/>
                </a:highlight>
              </a:rPr>
              <a:t>job role</a:t>
            </a:r>
            <a:r>
              <a:rPr lang="en-IN" sz="1600" b="1" dirty="0"/>
              <a:t>, </a:t>
            </a:r>
            <a:r>
              <a:rPr lang="en-IN" sz="1600" b="1" dirty="0">
                <a:highlight>
                  <a:srgbClr val="FFFF00"/>
                </a:highlight>
              </a:rPr>
              <a:t>experience level</a:t>
            </a:r>
            <a:r>
              <a:rPr lang="en-IN" sz="1600" b="1" dirty="0"/>
              <a:t>, </a:t>
            </a:r>
            <a:r>
              <a:rPr lang="en-IN" sz="1600" b="1" dirty="0">
                <a:highlight>
                  <a:srgbClr val="FFFF00"/>
                </a:highlight>
              </a:rPr>
              <a:t>interview type</a:t>
            </a:r>
            <a:r>
              <a:rPr lang="en-IN" sz="1600" dirty="0"/>
              <a:t>, or upload their </a:t>
            </a:r>
            <a:r>
              <a:rPr lang="en-IN" sz="1600" b="1" dirty="0">
                <a:highlight>
                  <a:srgbClr val="FFFF00"/>
                </a:highlight>
              </a:rPr>
              <a:t>resume</a:t>
            </a:r>
            <a:r>
              <a:rPr lang="en-IN" sz="1600" dirty="0"/>
              <a:t> to begin a personalized interview session.</a:t>
            </a:r>
          </a:p>
          <a:p>
            <a:endParaRPr lang="en-IN" dirty="0"/>
          </a:p>
          <a:p>
            <a:r>
              <a:rPr lang="en-IN" sz="1800" b="1" dirty="0"/>
              <a:t>2) IBM </a:t>
            </a:r>
            <a:r>
              <a:rPr lang="en-IN" sz="1800" b="1" dirty="0" err="1"/>
              <a:t>watsonx</a:t>
            </a:r>
            <a:r>
              <a:rPr lang="en-IN" sz="1800" b="1" dirty="0"/>
              <a:t> AI Agent</a:t>
            </a:r>
            <a:r>
              <a:rPr lang="en-IN" sz="1800" dirty="0"/>
              <a:t> </a:t>
            </a:r>
            <a:r>
              <a:rPr lang="en-IN" dirty="0"/>
              <a:t>– </a:t>
            </a:r>
            <a:r>
              <a:rPr lang="en-IN" sz="1600" dirty="0"/>
              <a:t>Processes the user's profile and leverages </a:t>
            </a:r>
            <a:r>
              <a:rPr lang="en-IN" sz="1600" b="1" dirty="0">
                <a:highlight>
                  <a:srgbClr val="FFFF00"/>
                </a:highlight>
              </a:rPr>
              <a:t>IBM Granite</a:t>
            </a:r>
            <a:r>
              <a:rPr lang="en-IN" sz="1600" dirty="0"/>
              <a:t> to generate intelligent interview questions, evaluate responses, and provide personalized feedback.</a:t>
            </a:r>
          </a:p>
          <a:p>
            <a:endParaRPr lang="en-IN" dirty="0"/>
          </a:p>
          <a:p>
            <a:r>
              <a:rPr lang="en-IN" sz="1800" b="1" dirty="0"/>
              <a:t>3) IBM Granite Model (Granite-3.3-8B-Instruct / Granite-4.0)</a:t>
            </a:r>
            <a:r>
              <a:rPr lang="en-IN" sz="1800" dirty="0"/>
              <a:t> – </a:t>
            </a:r>
            <a:r>
              <a:rPr lang="en-IN" sz="1600" dirty="0"/>
              <a:t>Used for interview question generation, answer assessment, model answer generation, and performance analysis through advanced natural language understanding.</a:t>
            </a:r>
          </a:p>
          <a:p>
            <a:endParaRPr lang="en-IN" dirty="0"/>
          </a:p>
          <a:p>
            <a:r>
              <a:rPr lang="en-IN" sz="1800" b="1" dirty="0"/>
              <a:t>4) Chat Output</a:t>
            </a:r>
            <a:r>
              <a:rPr lang="en-IN" sz="1800" dirty="0"/>
              <a:t> – </a:t>
            </a:r>
            <a:r>
              <a:rPr lang="en-IN" sz="1600" dirty="0"/>
              <a:t>Displays AI-generated interview questions, evaluation scores, model answers, improvement suggestions, and the final interview summary.</a:t>
            </a:r>
          </a:p>
          <a:p>
            <a:endParaRPr lang="en-IN" dirty="0"/>
          </a:p>
          <a:p>
            <a:r>
              <a:rPr lang="en-IN" sz="1800" b="1" dirty="0"/>
              <a:t>5) File Component</a:t>
            </a:r>
            <a:r>
              <a:rPr lang="en-IN" sz="1800" dirty="0"/>
              <a:t> – </a:t>
            </a:r>
            <a:r>
              <a:rPr lang="en-IN" sz="1600" dirty="0"/>
              <a:t>Enables candidates to upload their </a:t>
            </a:r>
            <a:r>
              <a:rPr lang="en-IN" sz="1600" b="1" dirty="0">
                <a:highlight>
                  <a:srgbClr val="FFFF00"/>
                </a:highlight>
              </a:rPr>
              <a:t>resume (PDF/DOCX)</a:t>
            </a:r>
            <a:r>
              <a:rPr lang="en-IN" sz="1600" dirty="0"/>
              <a:t>, allowing the agent to analyze skills, experience, and generate role-specific interview questions.</a:t>
            </a:r>
          </a:p>
          <a:p>
            <a:endParaRPr lang="en-IN" dirty="0"/>
          </a:p>
          <a:p>
            <a:r>
              <a:rPr lang="en-IN" sz="1800" b="1" dirty="0"/>
              <a:t>6) Prompt Template / System Prompt</a:t>
            </a:r>
            <a:r>
              <a:rPr lang="en-IN" sz="1800" dirty="0"/>
              <a:t> – </a:t>
            </a:r>
            <a:r>
              <a:rPr lang="en-IN" sz="1600" dirty="0"/>
              <a:t>Defines the interview flow, evaluation criteria, scoring methodology, and response format to ensure consistent and accurate AI-generated outputs.</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FDD2D57-F554-2A28-5A4C-4287D79F2707}"/>
              </a:ext>
            </a:extLst>
          </p:cNvPr>
          <p:cNvPicPr>
            <a:picLocks noChangeAspect="1"/>
          </p:cNvPicPr>
          <p:nvPr/>
        </p:nvPicPr>
        <p:blipFill>
          <a:blip r:embed="rId2"/>
          <a:stretch>
            <a:fillRect/>
          </a:stretch>
        </p:blipFill>
        <p:spPr>
          <a:xfrm>
            <a:off x="1487154" y="1174699"/>
            <a:ext cx="9385161" cy="5553509"/>
          </a:xfrm>
          <a:prstGeom prst="rect">
            <a:avLst/>
          </a:prstGeom>
        </p:spPr>
      </p:pic>
      <p:sp>
        <p:nvSpPr>
          <p:cNvPr id="12" name="TextBox 11">
            <a:extLst>
              <a:ext uri="{FF2B5EF4-FFF2-40B4-BE49-F238E27FC236}">
                <a16:creationId xmlns:a16="http://schemas.microsoft.com/office/drawing/2014/main" id="{02B07B1D-8795-5A44-02E4-A78708D1B7BD}"/>
              </a:ext>
            </a:extLst>
          </p:cNvPr>
          <p:cNvSpPr txBox="1"/>
          <p:nvPr/>
        </p:nvSpPr>
        <p:spPr>
          <a:xfrm>
            <a:off x="984740" y="321548"/>
            <a:ext cx="3547068" cy="461665"/>
          </a:xfrm>
          <a:prstGeom prst="rect">
            <a:avLst/>
          </a:prstGeom>
          <a:noFill/>
        </p:spPr>
        <p:txBody>
          <a:bodyPr wrap="square" rtlCol="0">
            <a:spAutoFit/>
          </a:bodyPr>
          <a:lstStyle/>
          <a:p>
            <a:r>
              <a:rPr lang="en-IN" sz="2400" b="1" dirty="0"/>
              <a:t>Architecture Blueprint</a:t>
            </a:r>
          </a:p>
        </p:txBody>
      </p:sp>
    </p:spTree>
    <p:extLst>
      <p:ext uri="{BB962C8B-B14F-4D97-AF65-F5344CB8AC3E}">
        <p14:creationId xmlns:p14="http://schemas.microsoft.com/office/powerpoint/2010/main" val="3447191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475488" y="273416"/>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pic>
        <p:nvPicPr>
          <p:cNvPr id="4" name="Picture 3" descr="573,600+ Ai Stock Photos, Pictures &amp; Royalty-Free Images - iStock | Machine  learning, Ai icon, Technology">
            <a:extLst>
              <a:ext uri="{FF2B5EF4-FFF2-40B4-BE49-F238E27FC236}">
                <a16:creationId xmlns:a16="http://schemas.microsoft.com/office/drawing/2014/main" id="{F3B3585B-8D74-511D-84EC-B65C8A7CFAFD}"/>
              </a:ext>
            </a:extLst>
          </p:cNvPr>
          <p:cNvPicPr>
            <a:picLocks noChangeAspect="1"/>
          </p:cNvPicPr>
          <p:nvPr/>
        </p:nvPicPr>
        <p:blipFill>
          <a:blip r:embed="rId3"/>
          <a:stretch>
            <a:fillRect/>
          </a:stretch>
        </p:blipFill>
        <p:spPr>
          <a:xfrm>
            <a:off x="3061799" y="1018966"/>
            <a:ext cx="6637640" cy="2970230"/>
          </a:xfrm>
          <a:prstGeom prst="rect">
            <a:avLst/>
          </a:prstGeom>
        </p:spPr>
      </p:pic>
      <p:sp>
        <p:nvSpPr>
          <p:cNvPr id="7" name="TextBox 6">
            <a:extLst>
              <a:ext uri="{FF2B5EF4-FFF2-40B4-BE49-F238E27FC236}">
                <a16:creationId xmlns:a16="http://schemas.microsoft.com/office/drawing/2014/main" id="{40EC4C3B-E1F6-E14B-8D28-DA88C11527D2}"/>
              </a:ext>
            </a:extLst>
          </p:cNvPr>
          <p:cNvSpPr txBox="1"/>
          <p:nvPr/>
        </p:nvSpPr>
        <p:spPr>
          <a:xfrm>
            <a:off x="475488" y="4228474"/>
            <a:ext cx="11336215" cy="2092881"/>
          </a:xfrm>
          <a:prstGeom prst="rect">
            <a:avLst/>
          </a:prstGeom>
          <a:noFill/>
        </p:spPr>
        <p:txBody>
          <a:bodyPr wrap="square" rtlCol="0">
            <a:spAutoFit/>
          </a:bodyPr>
          <a:lstStyle/>
          <a:p>
            <a:r>
              <a:rPr lang="en-IN" sz="1800" b="1" dirty="0"/>
              <a:t>Autonomous Multi-Agent Coordination:</a:t>
            </a:r>
            <a:r>
              <a:rPr lang="en-IN" sz="1800" dirty="0"/>
              <a:t> </a:t>
            </a:r>
            <a:r>
              <a:rPr lang="en-IN" sz="1600" dirty="0"/>
              <a:t>Shifting from a basic chat interface to an independent system where specialized processes complete distinct phases automatically:</a:t>
            </a:r>
          </a:p>
          <a:p>
            <a:r>
              <a:rPr lang="en-IN" sz="1600" i="1" dirty="0"/>
              <a:t>  *The Profile Capture Agent</a:t>
            </a:r>
            <a:r>
              <a:rPr lang="en-IN" sz="1600" dirty="0"/>
              <a:t> registers user targets and calculates background baselines.</a:t>
            </a:r>
          </a:p>
          <a:p>
            <a:r>
              <a:rPr lang="en-IN" sz="1600" i="1" dirty="0"/>
              <a:t>  *The Evaluation Agent</a:t>
            </a:r>
            <a:r>
              <a:rPr lang="en-IN" sz="1600" dirty="0"/>
              <a:t> scores answers independently, extracting metric scores based on required context keywords.</a:t>
            </a:r>
          </a:p>
          <a:p>
            <a:r>
              <a:rPr lang="en-IN" sz="1600" i="1" dirty="0"/>
              <a:t>  *The Curating Road mapping Agent</a:t>
            </a:r>
            <a:r>
              <a:rPr lang="en-IN" sz="1600" dirty="0"/>
              <a:t> identifies user deficiencies, instantly parsing educational video arrays and  literature  references to address gaps.</a:t>
            </a:r>
          </a:p>
          <a:p>
            <a:r>
              <a:rPr lang="en-IN" sz="1800" b="1" dirty="0"/>
              <a:t>Proactive Assistance:</a:t>
            </a:r>
            <a:r>
              <a:rPr lang="en-IN" sz="1800" dirty="0"/>
              <a:t> </a:t>
            </a:r>
            <a:r>
              <a:rPr lang="en-IN" sz="1600" dirty="0"/>
              <a:t>Interacts directly with the user, pacing the interview structure seamlessly step-by-step.</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E39BC17-4916-FA0F-B444-E14103B7DDFE}"/>
              </a:ext>
            </a:extLst>
          </p:cNvPr>
          <p:cNvSpPr txBox="1"/>
          <p:nvPr/>
        </p:nvSpPr>
        <p:spPr>
          <a:xfrm>
            <a:off x="850760" y="371789"/>
            <a:ext cx="10490479" cy="5416868"/>
          </a:xfrm>
          <a:prstGeom prst="rect">
            <a:avLst/>
          </a:prstGeom>
          <a:noFill/>
        </p:spPr>
        <p:txBody>
          <a:bodyPr wrap="square">
            <a:spAutoFit/>
          </a:bodyPr>
          <a:lstStyle/>
          <a:p>
            <a:pPr>
              <a:buNone/>
            </a:pPr>
            <a:r>
              <a:rPr lang="en-IN" sz="2400" b="1" dirty="0"/>
              <a:t>Responsibilities</a:t>
            </a:r>
          </a:p>
          <a:p>
            <a:pPr>
              <a:buNone/>
            </a:pPr>
            <a:endParaRPr lang="en-IN" sz="1800" b="1" dirty="0"/>
          </a:p>
          <a:p>
            <a:pPr>
              <a:buNone/>
            </a:pPr>
            <a:r>
              <a:rPr lang="en-IN" sz="1600" dirty="0"/>
              <a:t>✔ Generates interview questions</a:t>
            </a:r>
          </a:p>
          <a:p>
            <a:pPr>
              <a:buNone/>
            </a:pPr>
            <a:endParaRPr lang="en-IN" sz="1600" dirty="0"/>
          </a:p>
          <a:p>
            <a:pPr>
              <a:buNone/>
            </a:pPr>
            <a:r>
              <a:rPr lang="en-IN" sz="1600" dirty="0"/>
              <a:t>✔ Evaluates answers</a:t>
            </a:r>
          </a:p>
          <a:p>
            <a:pPr>
              <a:buNone/>
            </a:pPr>
            <a:endParaRPr lang="en-IN" sz="1600" dirty="0"/>
          </a:p>
          <a:p>
            <a:pPr>
              <a:buNone/>
            </a:pPr>
            <a:r>
              <a:rPr lang="en-IN" sz="1600" dirty="0"/>
              <a:t>✔ Detects missing concepts</a:t>
            </a:r>
          </a:p>
          <a:p>
            <a:pPr>
              <a:buNone/>
            </a:pPr>
            <a:endParaRPr lang="en-IN" sz="1600" dirty="0"/>
          </a:p>
          <a:p>
            <a:pPr>
              <a:buNone/>
            </a:pPr>
            <a:r>
              <a:rPr lang="en-IN" sz="1600" dirty="0"/>
              <a:t>✔ Provides personalized feedback</a:t>
            </a:r>
          </a:p>
          <a:p>
            <a:pPr>
              <a:buNone/>
            </a:pPr>
            <a:endParaRPr lang="en-IN" sz="1600" dirty="0"/>
          </a:p>
          <a:p>
            <a:pPr>
              <a:buNone/>
            </a:pPr>
            <a:r>
              <a:rPr lang="en-IN" sz="1600" dirty="0"/>
              <a:t>✔ Analyzes resumes</a:t>
            </a:r>
          </a:p>
          <a:p>
            <a:pPr>
              <a:buNone/>
            </a:pPr>
            <a:endParaRPr lang="en-IN" sz="1600" dirty="0"/>
          </a:p>
          <a:p>
            <a:pPr>
              <a:buNone/>
            </a:pPr>
            <a:r>
              <a:rPr lang="en-IN" sz="1600" dirty="0"/>
              <a:t>✔ Suggests missing skills</a:t>
            </a:r>
          </a:p>
          <a:p>
            <a:pPr>
              <a:buNone/>
            </a:pPr>
            <a:endParaRPr lang="en-IN" sz="1600" dirty="0"/>
          </a:p>
          <a:p>
            <a:pPr>
              <a:buNone/>
            </a:pPr>
            <a:r>
              <a:rPr lang="en-IN" sz="1600" dirty="0"/>
              <a:t>✔ Generates career roadmap</a:t>
            </a:r>
          </a:p>
          <a:p>
            <a:pPr>
              <a:buNone/>
            </a:pPr>
            <a:endParaRPr lang="en-IN" sz="1600" dirty="0"/>
          </a:p>
          <a:p>
            <a:pPr>
              <a:buNone/>
            </a:pPr>
            <a:r>
              <a:rPr lang="en-IN" sz="1600" dirty="0"/>
              <a:t>✔ Recommends learning resources</a:t>
            </a:r>
          </a:p>
          <a:p>
            <a:pPr>
              <a:buNone/>
            </a:pPr>
            <a:endParaRPr lang="en-IN" sz="1600" dirty="0"/>
          </a:p>
          <a:p>
            <a:pPr>
              <a:buNone/>
            </a:pPr>
            <a:r>
              <a:rPr lang="en-IN" sz="1600" dirty="0"/>
              <a:t>✔ Improves interview confidence</a:t>
            </a:r>
          </a:p>
          <a:p>
            <a:pPr>
              <a:buNone/>
            </a:pPr>
            <a:endParaRPr lang="en-IN" sz="1600" dirty="0"/>
          </a:p>
          <a:p>
            <a:pPr>
              <a:buNone/>
            </a:pPr>
            <a:r>
              <a:rPr lang="en-IN" sz="1600" dirty="0"/>
              <a:t>IBM Granite acts as the reasoning engine while RAG retrieves accurate interview knowledge from trusted sources.</a:t>
            </a:r>
          </a:p>
        </p:txBody>
      </p:sp>
    </p:spTree>
    <p:extLst>
      <p:ext uri="{BB962C8B-B14F-4D97-AF65-F5344CB8AC3E}">
        <p14:creationId xmlns:p14="http://schemas.microsoft.com/office/powerpoint/2010/main" val="1286621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1398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The proposed </a:t>
            </a:r>
            <a:r>
              <a:rPr lang="en-US" sz="1800" dirty="0"/>
              <a:t>Interview Trainer</a:t>
            </a:r>
            <a:r>
              <a:rPr lang="en-US" sz="1800" b="0" i="0" u="none" strike="noStrike" cap="none" dirty="0">
                <a:solidFill>
                  <a:srgbClr val="000000"/>
                </a:solidFill>
                <a:latin typeface="Arial"/>
                <a:ea typeface="Arial"/>
                <a:cs typeface="Arial"/>
                <a:sym typeface="Arial"/>
              </a:rPr>
              <a:t> Agent stands out by combining </a:t>
            </a:r>
            <a:r>
              <a:rPr lang="en-US" sz="1800" b="1" i="0" u="none" strike="noStrike" cap="none" dirty="0">
                <a:solidFill>
                  <a:srgbClr val="000000"/>
                </a:solidFill>
                <a:latin typeface="Arial"/>
                <a:ea typeface="Arial"/>
                <a:cs typeface="Arial"/>
                <a:sym typeface="Arial"/>
              </a:rPr>
              <a:t>Agentic AI, RAG, and personalization</a:t>
            </a:r>
            <a:r>
              <a:rPr lang="en-US" sz="1800" b="0" i="0" u="none" strike="noStrike" cap="none" dirty="0">
                <a:solidFill>
                  <a:srgbClr val="000000"/>
                </a:solidFill>
                <a:latin typeface="Arial"/>
                <a:ea typeface="Arial"/>
                <a:cs typeface="Arial"/>
                <a:sym typeface="Arial"/>
              </a:rPr>
              <a:t> into a single intelligent system.</a:t>
            </a:r>
            <a:endParaRPr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r>
              <a:rPr lang="en-IN" sz="1800" b="1" dirty="0"/>
              <a:t>7-Question Comprehensive Mock Test:</a:t>
            </a:r>
            <a:r>
              <a:rPr lang="en-IN" sz="1800" dirty="0"/>
              <a:t> </a:t>
            </a:r>
            <a:r>
              <a:rPr lang="en-IN" sz="1600" dirty="0"/>
              <a:t>Simulates structured live evaluation checkpoints tracking answers, </a:t>
            </a:r>
            <a:r>
              <a:rPr lang="en-IN" sz="1600" b="1" dirty="0">
                <a:highlight>
                  <a:srgbClr val="FFFF00"/>
                </a:highlight>
              </a:rPr>
              <a:t>grading accuracy automatically, and assigning targeted scores along with Feedback</a:t>
            </a:r>
            <a:r>
              <a:rPr lang="en-IN" sz="1600" dirty="0"/>
              <a:t>.</a:t>
            </a:r>
          </a:p>
          <a:p>
            <a:endParaRPr lang="en-IN" sz="1800" dirty="0"/>
          </a:p>
          <a:p>
            <a:r>
              <a:rPr lang="en-IN" sz="1800" b="1" dirty="0"/>
              <a:t>AI Resume Analyzer &amp; Skill Scorer:</a:t>
            </a:r>
            <a:r>
              <a:rPr lang="en-IN" sz="1800" dirty="0"/>
              <a:t> </a:t>
            </a:r>
            <a:r>
              <a:rPr lang="en-IN" sz="1600" dirty="0"/>
              <a:t>Critiques credentials against competitive global domains, delivering explicit alignment scores and necessary optimizations.</a:t>
            </a:r>
          </a:p>
          <a:p>
            <a:endParaRPr lang="en-IN" sz="1800" dirty="0"/>
          </a:p>
          <a:p>
            <a:r>
              <a:rPr lang="en-IN" sz="1800" b="1" dirty="0"/>
              <a:t>Interactive Fresher Roadmaps:</a:t>
            </a:r>
            <a:r>
              <a:rPr lang="en-IN" sz="1800" dirty="0"/>
              <a:t> </a:t>
            </a:r>
            <a:r>
              <a:rPr lang="en-IN" sz="1600" dirty="0"/>
              <a:t>Curates personalized learning loops complete with directly accessible </a:t>
            </a:r>
            <a:r>
              <a:rPr lang="en-IN" sz="1600" b="1" dirty="0">
                <a:highlight>
                  <a:srgbClr val="FFFF00"/>
                </a:highlight>
              </a:rPr>
              <a:t>YouTube courses</a:t>
            </a:r>
            <a:r>
              <a:rPr lang="en-IN" sz="1600" dirty="0"/>
              <a:t> and </a:t>
            </a:r>
            <a:r>
              <a:rPr lang="en-IN" sz="1600" b="1" dirty="0">
                <a:highlight>
                  <a:srgbClr val="FFFF00"/>
                </a:highlight>
              </a:rPr>
              <a:t>expert-recommended textbooks</a:t>
            </a:r>
            <a:r>
              <a:rPr lang="en-IN" sz="1600" dirty="0"/>
              <a:t>.</a:t>
            </a:r>
          </a:p>
          <a:p>
            <a:endParaRPr lang="en-IN" sz="1800" dirty="0"/>
          </a:p>
          <a:p>
            <a:r>
              <a:rPr lang="en-IN" sz="1800" b="1" dirty="0"/>
              <a:t>Integrated Voice Assistant:</a:t>
            </a:r>
            <a:r>
              <a:rPr lang="en-IN" sz="1800" dirty="0"/>
              <a:t> </a:t>
            </a:r>
            <a:r>
              <a:rPr lang="en-IN" sz="1600" dirty="0"/>
              <a:t>Boosts accessibility by </a:t>
            </a:r>
            <a:r>
              <a:rPr lang="en-IN" sz="1600" b="1" dirty="0">
                <a:highlight>
                  <a:srgbClr val="FFFF00"/>
                </a:highlight>
              </a:rPr>
              <a:t>reading out headings, questions, and essential evaluation points aloud</a:t>
            </a:r>
            <a:r>
              <a:rPr lang="en-IN" sz="1600" dirty="0"/>
              <a:t>.</a:t>
            </a:r>
          </a:p>
          <a:p>
            <a:endParaRPr lang="en-IN" sz="1800" dirty="0"/>
          </a:p>
          <a:p>
            <a:r>
              <a:rPr lang="en-IN" sz="1800" b="1" dirty="0"/>
              <a:t>Eye Comfort Visibility Toggle:</a:t>
            </a:r>
            <a:r>
              <a:rPr lang="en-IN" sz="1800" dirty="0"/>
              <a:t> </a:t>
            </a:r>
            <a:r>
              <a:rPr lang="en-IN" sz="1600" dirty="0"/>
              <a:t>Features a dynamic theme-switching control to adjust user workspace aesthetics effortlessly.</a:t>
            </a:r>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D184ED-8A74-531E-02F6-ECA69EEFD107}"/>
              </a:ext>
            </a:extLst>
          </p:cNvPr>
          <p:cNvPicPr>
            <a:picLocks noChangeAspect="1"/>
          </p:cNvPicPr>
          <p:nvPr/>
        </p:nvPicPr>
        <p:blipFill>
          <a:blip r:embed="rId2"/>
          <a:stretch>
            <a:fillRect/>
          </a:stretch>
        </p:blipFill>
        <p:spPr>
          <a:xfrm>
            <a:off x="430663" y="95459"/>
            <a:ext cx="5236607" cy="3134773"/>
          </a:xfrm>
          <a:prstGeom prst="rect">
            <a:avLst/>
          </a:prstGeom>
        </p:spPr>
      </p:pic>
      <p:pic>
        <p:nvPicPr>
          <p:cNvPr id="7" name="Picture 6">
            <a:extLst>
              <a:ext uri="{FF2B5EF4-FFF2-40B4-BE49-F238E27FC236}">
                <a16:creationId xmlns:a16="http://schemas.microsoft.com/office/drawing/2014/main" id="{D0A2AB60-3A12-4975-B286-C074835C73E3}"/>
              </a:ext>
            </a:extLst>
          </p:cNvPr>
          <p:cNvPicPr>
            <a:picLocks noChangeAspect="1"/>
          </p:cNvPicPr>
          <p:nvPr/>
        </p:nvPicPr>
        <p:blipFill>
          <a:blip r:embed="rId3"/>
          <a:stretch>
            <a:fillRect/>
          </a:stretch>
        </p:blipFill>
        <p:spPr>
          <a:xfrm>
            <a:off x="430664" y="3429000"/>
            <a:ext cx="5236606" cy="3333541"/>
          </a:xfrm>
          <a:prstGeom prst="rect">
            <a:avLst/>
          </a:prstGeom>
        </p:spPr>
      </p:pic>
      <p:pic>
        <p:nvPicPr>
          <p:cNvPr id="9" name="Picture 8">
            <a:extLst>
              <a:ext uri="{FF2B5EF4-FFF2-40B4-BE49-F238E27FC236}">
                <a16:creationId xmlns:a16="http://schemas.microsoft.com/office/drawing/2014/main" id="{DCCDC44C-8C18-F6D1-6D62-CE42F6358333}"/>
              </a:ext>
            </a:extLst>
          </p:cNvPr>
          <p:cNvPicPr>
            <a:picLocks noChangeAspect="1"/>
          </p:cNvPicPr>
          <p:nvPr/>
        </p:nvPicPr>
        <p:blipFill>
          <a:blip r:embed="rId4"/>
          <a:stretch>
            <a:fillRect/>
          </a:stretch>
        </p:blipFill>
        <p:spPr>
          <a:xfrm>
            <a:off x="6524731" y="95459"/>
            <a:ext cx="5236606" cy="3134773"/>
          </a:xfrm>
          <a:prstGeom prst="rect">
            <a:avLst/>
          </a:prstGeom>
        </p:spPr>
      </p:pic>
      <p:pic>
        <p:nvPicPr>
          <p:cNvPr id="11" name="Picture 10">
            <a:extLst>
              <a:ext uri="{FF2B5EF4-FFF2-40B4-BE49-F238E27FC236}">
                <a16:creationId xmlns:a16="http://schemas.microsoft.com/office/drawing/2014/main" id="{FE4F0910-AF07-2F48-B028-40CBB0FC6C8C}"/>
              </a:ext>
            </a:extLst>
          </p:cNvPr>
          <p:cNvPicPr>
            <a:picLocks noChangeAspect="1"/>
          </p:cNvPicPr>
          <p:nvPr/>
        </p:nvPicPr>
        <p:blipFill>
          <a:blip r:embed="rId5"/>
          <a:stretch>
            <a:fillRect/>
          </a:stretch>
        </p:blipFill>
        <p:spPr>
          <a:xfrm>
            <a:off x="6524731" y="3362626"/>
            <a:ext cx="5236605" cy="3399916"/>
          </a:xfrm>
          <a:prstGeom prst="rect">
            <a:avLst/>
          </a:prstGeom>
        </p:spPr>
      </p:pic>
    </p:spTree>
    <p:extLst>
      <p:ext uri="{BB962C8B-B14F-4D97-AF65-F5344CB8AC3E}">
        <p14:creationId xmlns:p14="http://schemas.microsoft.com/office/powerpoint/2010/main" val="3135623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56351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Future Scope </a:t>
            </a:r>
            <a:endParaRPr sz="2400" b="1" i="0" u="none" strike="noStrike" cap="none" dirty="0">
              <a:solidFill>
                <a:srgbClr val="000000"/>
              </a:solidFill>
              <a:latin typeface="Arial"/>
              <a:ea typeface="Arial"/>
              <a:cs typeface="Arial"/>
              <a:sym typeface="Arial"/>
            </a:endParaRPr>
          </a:p>
        </p:txBody>
      </p:sp>
      <p:sp>
        <p:nvSpPr>
          <p:cNvPr id="173" name="Google Shape;173;p42"/>
          <p:cNvSpPr/>
          <p:nvPr/>
        </p:nvSpPr>
        <p:spPr>
          <a:xfrm>
            <a:off x="1218724" y="1536736"/>
            <a:ext cx="10196203" cy="4277001"/>
          </a:xfrm>
          <a:prstGeom prst="rect">
            <a:avLst/>
          </a:prstGeom>
          <a:noFill/>
          <a:ln>
            <a:noFill/>
          </a:ln>
        </p:spPr>
        <p:txBody>
          <a:bodyPr spcFirstLastPara="1" wrap="square" lIns="0" tIns="0" rIns="0" bIns="0" anchor="t" anchorCtr="0">
            <a:noAutofit/>
          </a:bodyPr>
          <a:lstStyle/>
          <a:p>
            <a:r>
              <a:rPr lang="en-IN" sz="1600" dirty="0"/>
              <a:t>The </a:t>
            </a:r>
            <a:r>
              <a:rPr lang="en-IN" sz="1600" b="1" dirty="0">
                <a:highlight>
                  <a:srgbClr val="FFFF00"/>
                </a:highlight>
              </a:rPr>
              <a:t>Interview Trainer Agent</a:t>
            </a:r>
            <a:r>
              <a:rPr lang="en-IN" sz="1600" dirty="0"/>
              <a:t> can be further enhanced by introducing </a:t>
            </a:r>
            <a:r>
              <a:rPr lang="en-IN" sz="1600" b="1" dirty="0">
                <a:highlight>
                  <a:srgbClr val="FFFF00"/>
                </a:highlight>
              </a:rPr>
              <a:t>AI-powered live mock interviews</a:t>
            </a:r>
            <a:r>
              <a:rPr lang="en-IN" sz="1600" dirty="0"/>
              <a:t> with voice interaction, enabling students to practice real-time HR and technical interviews. The system can analyze speech clarity, confidence, communication skills, pronunciation, and body language (through webcam integration) to provide detailed performance reports. Additionally, company-specific interview preparation can be incorporated by generating customized question sets based on recruitment patterns of organizations such as TCS, Infosys, Accenture, Amazon, and Google, helping students prepare more effectively for their target companies.</a:t>
            </a:r>
          </a:p>
          <a:p>
            <a:endParaRPr lang="en-IN" sz="1600" dirty="0"/>
          </a:p>
          <a:p>
            <a:endParaRPr lang="en-IN" sz="1600" dirty="0"/>
          </a:p>
          <a:p>
            <a:r>
              <a:rPr lang="en-IN" sz="1600" dirty="0"/>
              <a:t>Another major enhancement is the integration of an </a:t>
            </a:r>
            <a:r>
              <a:rPr lang="en-IN" sz="1600" b="1" dirty="0">
                <a:highlight>
                  <a:srgbClr val="FFFF00"/>
                </a:highlight>
              </a:rPr>
              <a:t>Advanced Resume &amp; Career Guidance System</a:t>
            </a:r>
            <a:r>
              <a:rPr lang="en-IN" sz="1600" dirty="0"/>
              <a:t> that includes ATS (Applicant Tracking System) compatibility analysis, LinkedIn profile evaluation, and personalized career recommendations. Based on the student's skills, interview performance, and career goals, the platform can automatically generate learning roadmaps, recommend certification courses, YouTube tutorials, books, and coding practice resources. These improvements will transform the Interview Trainer Agent into a comprehensive AI career mentor, providing end-to-end guidance from resume building to successful placement preparation.</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3" y="894407"/>
            <a:ext cx="8558323" cy="1205698"/>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400" b="1" i="0" u="none" strike="noStrike" cap="none" dirty="0">
                <a:solidFill>
                  <a:srgbClr val="000000"/>
                </a:solidFill>
                <a:latin typeface="Arial"/>
                <a:ea typeface="Arial"/>
                <a:cs typeface="Arial"/>
                <a:sym typeface="Arial"/>
              </a:rPr>
              <a:t>Git Hub Link</a:t>
            </a:r>
            <a:r>
              <a:rPr lang="en-US" sz="2400" b="1" dirty="0"/>
              <a:t> - </a:t>
            </a:r>
            <a:r>
              <a:rPr lang="en-US" sz="1800" u="sng" dirty="0"/>
              <a:t>https://github.com/Karthik-3006/Edunet_AICTE_Project.git</a:t>
            </a:r>
            <a:endParaRPr sz="1800" u="sng" strike="noStrike" cap="none" dirty="0">
              <a:solidFill>
                <a:srgbClr val="000000"/>
              </a:solidFill>
              <a:latin typeface="Arial"/>
              <a:ea typeface="Arial"/>
              <a:cs typeface="Arial"/>
              <a:sym typeface="Arial"/>
            </a:endParaRPr>
          </a:p>
        </p:txBody>
      </p:sp>
      <p:sp>
        <p:nvSpPr>
          <p:cNvPr id="164" name="Google Shape;164;p41"/>
          <p:cNvSpPr/>
          <p:nvPr/>
        </p:nvSpPr>
        <p:spPr>
          <a:xfrm>
            <a:off x="345710" y="82237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3" y="1949753"/>
            <a:ext cx="8698999" cy="120569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800" b="1" dirty="0">
                <a:solidFill>
                  <a:srgbClr val="2B3541"/>
                </a:solidFill>
                <a:latin typeface="Times New Roman"/>
                <a:ea typeface="Times New Roman"/>
                <a:cs typeface="Times New Roman"/>
                <a:sym typeface="Times New Roman"/>
              </a:rPr>
              <a:t>Live Link - </a:t>
            </a:r>
            <a:r>
              <a:rPr lang="en-US" sz="2000" u="sng" dirty="0">
                <a:solidFill>
                  <a:srgbClr val="2B3541"/>
                </a:solidFill>
                <a:latin typeface="Times New Roman"/>
                <a:ea typeface="Times New Roman"/>
                <a:cs typeface="Times New Roman"/>
                <a:sym typeface="Times New Roman"/>
              </a:rPr>
              <a:t>https://edunet-aicte-project.onrender.com</a:t>
            </a:r>
            <a:endParaRPr sz="2000" i="0" u="sng" strike="noStrike" cap="none" dirty="0">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3" name="Picture 2">
            <a:extLst>
              <a:ext uri="{FF2B5EF4-FFF2-40B4-BE49-F238E27FC236}">
                <a16:creationId xmlns:a16="http://schemas.microsoft.com/office/drawing/2014/main" id="{BC97BC06-F4BE-90D4-CF8F-79B574DD5661}"/>
              </a:ext>
            </a:extLst>
          </p:cNvPr>
          <p:cNvPicPr>
            <a:picLocks noChangeAspect="1"/>
          </p:cNvPicPr>
          <p:nvPr/>
        </p:nvPicPr>
        <p:blipFill>
          <a:blip r:embed="rId3"/>
          <a:stretch>
            <a:fillRect/>
          </a:stretch>
        </p:blipFill>
        <p:spPr>
          <a:xfrm>
            <a:off x="2623230" y="1367169"/>
            <a:ext cx="6741833" cy="52253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B75BC933-F074-0515-26C0-297B134B4D8D}"/>
              </a:ext>
            </a:extLst>
          </p:cNvPr>
          <p:cNvPicPr>
            <a:picLocks noChangeAspect="1"/>
          </p:cNvPicPr>
          <p:nvPr/>
        </p:nvPicPr>
        <p:blipFill>
          <a:blip r:embed="rId3"/>
          <a:stretch>
            <a:fillRect/>
          </a:stretch>
        </p:blipFill>
        <p:spPr>
          <a:xfrm>
            <a:off x="2353988" y="1386456"/>
            <a:ext cx="8138865" cy="502963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2" name="TextBox 1">
            <a:extLst>
              <a:ext uri="{FF2B5EF4-FFF2-40B4-BE49-F238E27FC236}">
                <a16:creationId xmlns:a16="http://schemas.microsoft.com/office/drawing/2014/main" id="{0481AD48-4F6D-969C-4E67-DC291793FFF0}"/>
              </a:ext>
            </a:extLst>
          </p:cNvPr>
          <p:cNvSpPr txBox="1"/>
          <p:nvPr/>
        </p:nvSpPr>
        <p:spPr>
          <a:xfrm>
            <a:off x="2317820" y="2672862"/>
            <a:ext cx="7918101" cy="1015663"/>
          </a:xfrm>
          <a:prstGeom prst="rect">
            <a:avLst/>
          </a:prstGeom>
          <a:noFill/>
        </p:spPr>
        <p:txBody>
          <a:bodyPr wrap="square" rtlCol="0">
            <a:spAutoFit/>
          </a:bodyPr>
          <a:lstStyle/>
          <a:p>
            <a:r>
              <a:rPr lang="en-IN" sz="6000" b="1" dirty="0"/>
              <a:t>✨ THANK YOU!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1400</Words>
  <Application>Microsoft Office PowerPoint</Application>
  <PresentationFormat>Widescreen</PresentationFormat>
  <Paragraphs>131</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karthik goud</cp:lastModifiedBy>
  <cp:revision>2</cp:revision>
  <dcterms:created xsi:type="dcterms:W3CDTF">2025-07-08T05:06:56Z</dcterms:created>
  <dcterms:modified xsi:type="dcterms:W3CDTF">2026-07-08T09:01:57Z</dcterms:modified>
</cp:coreProperties>
</file>